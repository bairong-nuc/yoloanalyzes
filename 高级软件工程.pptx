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16" d="100"/>
          <a:sy n="116" d="100"/>
        </p:scale>
        <p:origin x="336" y="10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presProps" Target="presProps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1" Type="http://schemas.openxmlformats.org/officeDocument/2006/relationships/tableStyles" Target="tableStyles.xml"/><Relationship Id="rId10" Type="http://schemas.openxmlformats.org/officeDocument/2006/relationships/viewProps" Target="viewProps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1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 sz="4400"/>
              <a:t>YOLOv8 </a:t>
            </a:r>
            <a:r>
              <a:rPr lang="zh-CN" altLang="en-US" sz="4400"/>
              <a:t>算法解析与小目标检测优化</a:t>
            </a:r>
            <a:endParaRPr lang="zh-CN" altLang="en-US" sz="440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r>
              <a:rPr lang="en-US" altLang="zh-CN"/>
              <a:t>S202513003 </a:t>
            </a:r>
            <a:r>
              <a:rPr lang="zh-CN" altLang="en-US"/>
              <a:t>龚柏</a:t>
            </a:r>
            <a:r>
              <a:rPr lang="zh-CN" altLang="en-US"/>
              <a:t>荣</a:t>
            </a:r>
            <a:endParaRPr lang="zh-CN" alt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内容占位符 3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1778635" y="154940"/>
            <a:ext cx="8019415" cy="637667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5510" y="2146935"/>
            <a:ext cx="5238750" cy="3916680"/>
          </a:xfrm>
          <a:prstGeom prst="rect">
            <a:avLst/>
          </a:prstGeom>
        </p:spPr>
      </p:pic>
      <p:sp>
        <p:nvSpPr>
          <p:cNvPr id="5" name="AutoShape 2"/>
          <p:cNvSpPr/>
          <p:nvPr/>
        </p:nvSpPr>
        <p:spPr>
          <a:xfrm>
            <a:off x="762000" y="508000"/>
            <a:ext cx="35814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p>
            <a:pPr indent="0" algn="l">
              <a:lnSpc>
                <a:spcPct val="125000"/>
              </a:lnSpc>
              <a:defRPr/>
            </a:pPr>
            <a:r>
              <a:rPr lang="en-US" altLang="zh-CN" sz="3200" b="1" dirty="0">
                <a:solidFill>
                  <a:srgbClr val="0052FF"/>
                </a:solidFill>
                <a:ea typeface="Noto Sans SC" panose="020B0200000000000000" charset="-122"/>
                <a:sym typeface="Noto Sans SC" panose="020B0200000000000000" charset="-122"/>
              </a:rPr>
              <a:t>1.1 YOLO </a:t>
            </a:r>
            <a:r>
              <a:rPr lang="zh-CN" altLang="en-US" sz="3200" b="1" dirty="0">
                <a:solidFill>
                  <a:srgbClr val="0052FF"/>
                </a:solidFill>
                <a:ea typeface="Noto Sans SC" panose="020B0200000000000000" charset="-122"/>
                <a:sym typeface="Noto Sans SC" panose="020B0200000000000000" charset="-122"/>
              </a:rPr>
              <a:t>概述</a:t>
            </a:r>
            <a:endParaRPr lang="zh-CN" altLang="en-US" sz="3200" b="1" dirty="0">
              <a:solidFill>
                <a:srgbClr val="0052FF"/>
              </a:solidFill>
              <a:ea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6" name="AutoShape 3"/>
          <p:cNvSpPr/>
          <p:nvPr/>
        </p:nvSpPr>
        <p:spPr>
          <a:xfrm>
            <a:off x="762000" y="1079500"/>
            <a:ext cx="508000" cy="50800"/>
          </a:xfrm>
          <a:prstGeom prst="roundRect">
            <a:avLst>
              <a:gd name="adj" fmla="val 0"/>
            </a:avLst>
          </a:prstGeom>
          <a:solidFill>
            <a:srgbClr val="0052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p>
            <a:pPr algn="ctr">
              <a:defRPr/>
            </a:pPr>
          </a:p>
        </p:txBody>
      </p:sp>
      <p:sp>
        <p:nvSpPr>
          <p:cNvPr id="7" name="文本框 6"/>
          <p:cNvSpPr txBox="1"/>
          <p:nvPr/>
        </p:nvSpPr>
        <p:spPr>
          <a:xfrm>
            <a:off x="268605" y="1384935"/>
            <a:ext cx="1046861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YOLO </a:t>
            </a:r>
            <a:r>
              <a:rPr lang="zh-CN" altLang="en-US"/>
              <a:t>目标检测是一种计算机视觉任务，其目标是在图像中识别并定位出对应</a:t>
            </a:r>
            <a:r>
              <a:rPr lang="zh-CN" altLang="en-US"/>
              <a:t>的物体。</a:t>
            </a:r>
            <a:endParaRPr lang="zh-CN" altLang="en-US"/>
          </a:p>
          <a:p>
            <a:endParaRPr lang="zh-CN" altLang="en-US"/>
          </a:p>
        </p:txBody>
      </p:sp>
      <p:sp>
        <p:nvSpPr>
          <p:cNvPr id="8" name="文本框 7"/>
          <p:cNvSpPr txBox="1"/>
          <p:nvPr/>
        </p:nvSpPr>
        <p:spPr>
          <a:xfrm>
            <a:off x="356235" y="1897380"/>
            <a:ext cx="5494655" cy="19773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主要有两个任务</a:t>
            </a:r>
            <a:r>
              <a:rPr lang="en-US" altLang="zh-CN"/>
              <a:t>:</a:t>
            </a:r>
            <a:endParaRPr lang="en-US" altLang="zh-CN"/>
          </a:p>
          <a:p>
            <a:endParaRPr lang="en-US" altLang="zh-CN"/>
          </a:p>
          <a:p>
            <a:r>
              <a:rPr lang="en-US" altLang="zh-CN"/>
              <a:t>1. </a:t>
            </a:r>
            <a:r>
              <a:rPr lang="zh-CN" altLang="en-US"/>
              <a:t>确定各物体的位置和边界。</a:t>
            </a:r>
            <a:r>
              <a:rPr lang="en-US" altLang="zh-CN"/>
              <a:t>  </a:t>
            </a:r>
            <a:endParaRPr lang="en-US" altLang="zh-CN"/>
          </a:p>
          <a:p>
            <a:endParaRPr lang="en-US" altLang="zh-CN"/>
          </a:p>
          <a:p>
            <a:r>
              <a:rPr lang="en-US" altLang="zh-CN"/>
              <a:t>2. </a:t>
            </a:r>
            <a:r>
              <a:rPr lang="zh-CN" altLang="en-US"/>
              <a:t>将这些物体分类到不同的类别中。</a:t>
            </a:r>
            <a:endParaRPr lang="zh-CN" altLang="en-US"/>
          </a:p>
          <a:p>
            <a:pPr indent="457200"/>
            <a:endParaRPr lang="en-US" altLang="zh-CN"/>
          </a:p>
          <a:p>
            <a:pPr indent="457200"/>
            <a:endParaRPr lang="en-US" altLang="zh-CN"/>
          </a:p>
          <a:p>
            <a:pPr indent="457200"/>
            <a:endParaRPr lang="en-US" altLang="zh-CN"/>
          </a:p>
        </p:txBody>
      </p:sp>
      <p:sp>
        <p:nvSpPr>
          <p:cNvPr id="9" name="文本框 8"/>
          <p:cNvSpPr txBox="1"/>
          <p:nvPr/>
        </p:nvSpPr>
        <p:spPr>
          <a:xfrm>
            <a:off x="268605" y="3611245"/>
            <a:ext cx="5212080" cy="1476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目前最先进的方法可分为以下两大类：</a:t>
            </a:r>
            <a:endParaRPr lang="zh-CN" altLang="en-US"/>
          </a:p>
          <a:p>
            <a:endParaRPr lang="en-US" altLang="zh-CN"/>
          </a:p>
          <a:p>
            <a:r>
              <a:rPr lang="en-US" altLang="zh-CN"/>
              <a:t>- </a:t>
            </a:r>
            <a:r>
              <a:rPr lang="zh-CN" altLang="en-US"/>
              <a:t>单阶段方法</a:t>
            </a:r>
            <a:endParaRPr lang="zh-CN" altLang="en-US"/>
          </a:p>
          <a:p>
            <a:endParaRPr lang="zh-CN" altLang="en-US"/>
          </a:p>
          <a:p>
            <a:r>
              <a:rPr lang="en-US" altLang="zh-CN"/>
              <a:t>- </a:t>
            </a:r>
            <a:r>
              <a:rPr lang="zh-CN" altLang="en-US"/>
              <a:t>双阶段方法</a:t>
            </a:r>
            <a:endParaRPr lang="zh-CN" alt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AutoShape 2"/>
          <p:cNvSpPr/>
          <p:nvPr/>
        </p:nvSpPr>
        <p:spPr>
          <a:xfrm>
            <a:off x="762000" y="508000"/>
            <a:ext cx="35814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p>
            <a:pPr indent="0" algn="l">
              <a:lnSpc>
                <a:spcPct val="125000"/>
              </a:lnSpc>
              <a:defRPr/>
            </a:pPr>
            <a:r>
              <a:rPr lang="zh-CN" altLang="en-US" sz="3200" b="1" dirty="0">
                <a:solidFill>
                  <a:srgbClr val="0052FF"/>
                </a:solidFill>
                <a:ea typeface="Noto Sans SC" panose="020B0200000000000000" charset="-122"/>
                <a:sym typeface="Noto Sans SC" panose="020B0200000000000000" charset="-122"/>
              </a:rPr>
              <a:t>单阶段方法与双阶段</a:t>
            </a:r>
            <a:r>
              <a:rPr lang="zh-CN" altLang="en-US" sz="3200" b="1" dirty="0">
                <a:solidFill>
                  <a:srgbClr val="0052FF"/>
                </a:solidFill>
                <a:ea typeface="Noto Sans SC" panose="020B0200000000000000" charset="-122"/>
                <a:sym typeface="Noto Sans SC" panose="020B0200000000000000" charset="-122"/>
              </a:rPr>
              <a:t>方法</a:t>
            </a:r>
            <a:endParaRPr lang="zh-CN" altLang="en-US" sz="3200" b="1" dirty="0">
              <a:solidFill>
                <a:srgbClr val="0052FF"/>
              </a:solidFill>
              <a:ea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4" name="AutoShape 3"/>
          <p:cNvSpPr/>
          <p:nvPr/>
        </p:nvSpPr>
        <p:spPr>
          <a:xfrm>
            <a:off x="762000" y="1079500"/>
            <a:ext cx="508000" cy="50800"/>
          </a:xfrm>
          <a:prstGeom prst="roundRect">
            <a:avLst>
              <a:gd name="adj" fmla="val 0"/>
            </a:avLst>
          </a:prstGeom>
          <a:solidFill>
            <a:srgbClr val="0052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p>
            <a:pPr algn="ctr">
              <a:defRPr/>
            </a:pPr>
          </a:p>
        </p:txBody>
      </p:sp>
      <p:sp>
        <p:nvSpPr>
          <p:cNvPr id="8" name="文本框 7"/>
          <p:cNvSpPr txBox="1"/>
          <p:nvPr/>
        </p:nvSpPr>
        <p:spPr>
          <a:xfrm>
            <a:off x="621030" y="1371600"/>
            <a:ext cx="10802620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1. </a:t>
            </a:r>
            <a:r>
              <a:rPr lang="zh-CN" altLang="en-US"/>
              <a:t>单阶段方法优先考虑推理速度，包括</a:t>
            </a:r>
            <a:r>
              <a:rPr lang="en-US" altLang="zh-CN"/>
              <a:t> YOLO</a:t>
            </a:r>
            <a:r>
              <a:rPr lang="zh-CN" altLang="en-US"/>
              <a:t>、</a:t>
            </a:r>
            <a:r>
              <a:rPr lang="en-US" altLang="zh-CN"/>
              <a:t>SSD </a:t>
            </a:r>
            <a:r>
              <a:rPr lang="zh-CN" altLang="en-US"/>
              <a:t>、</a:t>
            </a:r>
            <a:r>
              <a:rPr lang="en-US" altLang="zh-CN"/>
              <a:t> RetinaNet</a:t>
            </a:r>
            <a:endParaRPr lang="en-US" altLang="zh-CN"/>
          </a:p>
          <a:p>
            <a:endParaRPr lang="zh-CN" altLang="en-US"/>
          </a:p>
          <a:p>
            <a:r>
              <a:rPr lang="en-US" altLang="zh-CN"/>
              <a:t>2. </a:t>
            </a:r>
            <a:r>
              <a:rPr lang="zh-CN" altLang="en-US"/>
              <a:t>双阶段方法优先考虑检测精度，包括</a:t>
            </a:r>
            <a:r>
              <a:rPr lang="en-US" altLang="zh-CN"/>
              <a:t> Faster R-CNN</a:t>
            </a:r>
            <a:r>
              <a:rPr lang="zh-CN" altLang="en-US"/>
              <a:t>、</a:t>
            </a:r>
            <a:r>
              <a:rPr lang="en-US" altLang="zh-CN"/>
              <a:t>Mask R-CNN</a:t>
            </a:r>
            <a:endParaRPr lang="en-US" altLang="zh-CN"/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5765" y="2722880"/>
            <a:ext cx="7310755" cy="3613785"/>
          </a:xfrm>
          <a:prstGeom prst="rect">
            <a:avLst/>
          </a:prstGeom>
        </p:spPr>
      </p:pic>
      <p:pic>
        <p:nvPicPr>
          <p:cNvPr id="12" name="图片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6520" y="2673350"/>
            <a:ext cx="4467225" cy="417639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AutoShape 2"/>
          <p:cNvSpPr/>
          <p:nvPr/>
        </p:nvSpPr>
        <p:spPr>
          <a:xfrm>
            <a:off x="762000" y="508000"/>
            <a:ext cx="35814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p>
            <a:pPr indent="0" algn="l">
              <a:lnSpc>
                <a:spcPct val="125000"/>
              </a:lnSpc>
              <a:defRPr/>
            </a:pPr>
            <a:r>
              <a:rPr lang="zh-CN" altLang="en-US" sz="3200" b="1" dirty="0">
                <a:solidFill>
                  <a:srgbClr val="0052FF"/>
                </a:solidFill>
                <a:ea typeface="Noto Sans SC" panose="020B0200000000000000" charset="-122"/>
                <a:sym typeface="Noto Sans SC" panose="020B0200000000000000" charset="-122"/>
              </a:rPr>
              <a:t>边界框</a:t>
            </a:r>
            <a:endParaRPr lang="zh-CN" altLang="en-US" sz="3200" b="1" dirty="0">
              <a:solidFill>
                <a:srgbClr val="0052FF"/>
              </a:solidFill>
              <a:ea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4" name="AutoShape 3"/>
          <p:cNvSpPr/>
          <p:nvPr/>
        </p:nvSpPr>
        <p:spPr>
          <a:xfrm>
            <a:off x="762000" y="1079500"/>
            <a:ext cx="508000" cy="50800"/>
          </a:xfrm>
          <a:prstGeom prst="roundRect">
            <a:avLst>
              <a:gd name="adj" fmla="val 0"/>
            </a:avLst>
          </a:prstGeom>
          <a:solidFill>
            <a:srgbClr val="0052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p>
            <a:pPr algn="ctr">
              <a:defRPr/>
            </a:pPr>
          </a:p>
        </p:txBody>
      </p:sp>
      <p:sp>
        <p:nvSpPr>
          <p:cNvPr id="6" name="文本框 5"/>
          <p:cNvSpPr txBox="1"/>
          <p:nvPr/>
        </p:nvSpPr>
        <p:spPr>
          <a:xfrm>
            <a:off x="401955" y="1252855"/>
            <a:ext cx="11309350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- </a:t>
            </a:r>
            <a:r>
              <a:rPr lang="zh-CN" altLang="en-US"/>
              <a:t>边界框是用于计算机视觉</a:t>
            </a:r>
            <a:r>
              <a:rPr lang="en-US" altLang="zh-CN"/>
              <a:t> (CV) </a:t>
            </a:r>
            <a:r>
              <a:rPr lang="zh-CN" altLang="en-US"/>
              <a:t>任务的矩形区域标签。</a:t>
            </a:r>
            <a:endParaRPr lang="zh-CN" altLang="en-US"/>
          </a:p>
          <a:p>
            <a:endParaRPr lang="en-US" altLang="zh-CN"/>
          </a:p>
          <a:p>
            <a:r>
              <a:rPr lang="en-US" altLang="zh-CN"/>
              <a:t>- </a:t>
            </a:r>
            <a:r>
              <a:rPr lang="zh-CN" altLang="en-US"/>
              <a:t>在监督式机器学习</a:t>
            </a:r>
            <a:r>
              <a:rPr lang="en-US" altLang="zh-CN"/>
              <a:t> (ML) </a:t>
            </a:r>
            <a:r>
              <a:rPr lang="zh-CN" altLang="en-US"/>
              <a:t>中，目标检测模型使用边界框标签来学习图像的内容。</a:t>
            </a:r>
            <a:endParaRPr lang="zh-CN" altLang="en-US"/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02700" y="111125"/>
            <a:ext cx="3118485" cy="2356485"/>
          </a:xfrm>
          <a:prstGeom prst="rect">
            <a:avLst/>
          </a:prstGeom>
        </p:spPr>
      </p:pic>
      <p:pic>
        <p:nvPicPr>
          <p:cNvPr id="9" name="图片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275" y="2611120"/>
            <a:ext cx="6836410" cy="4104005"/>
          </a:xfrm>
          <a:prstGeom prst="rect">
            <a:avLst/>
          </a:prstGeom>
        </p:spPr>
      </p:pic>
      <p:sp>
        <p:nvSpPr>
          <p:cNvPr id="10" name="文本框 9"/>
          <p:cNvSpPr txBox="1"/>
          <p:nvPr/>
        </p:nvSpPr>
        <p:spPr>
          <a:xfrm>
            <a:off x="6821805" y="3031490"/>
            <a:ext cx="5182235" cy="8890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对于每个边界框，我们测量预测边界框与真实边界框之间的重叠度。重叠度通过交并比</a:t>
            </a:r>
            <a:r>
              <a:rPr lang="en-US" altLang="zh-CN"/>
              <a:t> (IoU) </a:t>
            </a:r>
            <a:r>
              <a:rPr lang="zh-CN" altLang="en-US"/>
              <a:t>来衡量。</a:t>
            </a:r>
            <a:endParaRPr lang="zh-CN" altLang="en-US"/>
          </a:p>
          <a:p>
            <a:endParaRPr lang="zh-CN" altLang="en-US"/>
          </a:p>
          <a:p>
            <a:endParaRPr lang="zh-CN" altLang="en-US"/>
          </a:p>
        </p:txBody>
      </p:sp>
      <p:pic>
        <p:nvPicPr>
          <p:cNvPr id="11" name="图片 1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67220" y="4176395"/>
            <a:ext cx="5053965" cy="242506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AutoShape 2"/>
          <p:cNvSpPr/>
          <p:nvPr/>
        </p:nvSpPr>
        <p:spPr>
          <a:xfrm>
            <a:off x="762000" y="508000"/>
            <a:ext cx="35814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p>
            <a:pPr indent="0" algn="l">
              <a:lnSpc>
                <a:spcPct val="125000"/>
              </a:lnSpc>
              <a:defRPr/>
            </a:pPr>
            <a:r>
              <a:rPr lang="zh-CN" altLang="en-US" sz="3200" b="1" dirty="0">
                <a:solidFill>
                  <a:srgbClr val="0052FF"/>
                </a:solidFill>
                <a:ea typeface="Noto Sans SC" panose="020B0200000000000000" charset="-122"/>
                <a:sym typeface="Noto Sans SC" panose="020B0200000000000000" charset="-122"/>
              </a:rPr>
              <a:t>边界框</a:t>
            </a:r>
            <a:endParaRPr lang="zh-CN" altLang="en-US" sz="3200" b="1" dirty="0">
              <a:solidFill>
                <a:srgbClr val="0052FF"/>
              </a:solidFill>
              <a:ea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4" name="AutoShape 3"/>
          <p:cNvSpPr/>
          <p:nvPr/>
        </p:nvSpPr>
        <p:spPr>
          <a:xfrm>
            <a:off x="762000" y="1079500"/>
            <a:ext cx="508000" cy="50800"/>
          </a:xfrm>
          <a:prstGeom prst="roundRect">
            <a:avLst>
              <a:gd name="adj" fmla="val 0"/>
            </a:avLst>
          </a:prstGeom>
          <a:solidFill>
            <a:srgbClr val="0052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p>
            <a:pPr algn="ctr">
              <a:defRPr/>
            </a:p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376</Words>
  <Application>WPS 演示</Application>
  <PresentationFormat>宽屏</PresentationFormat>
  <Paragraphs>42</Paragraphs>
  <Slides>6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</vt:i4>
      </vt:variant>
    </vt:vector>
  </HeadingPairs>
  <TitlesOfParts>
    <vt:vector size="14" baseType="lpstr">
      <vt:lpstr>Arial</vt:lpstr>
      <vt:lpstr>宋体</vt:lpstr>
      <vt:lpstr>Wingdings</vt:lpstr>
      <vt:lpstr>Noto Sans SC</vt:lpstr>
      <vt:lpstr>Calibri</vt:lpstr>
      <vt:lpstr>微软雅黑</vt:lpstr>
      <vt:lpstr>Arial Unicode MS</vt:lpstr>
      <vt:lpstr>WPS</vt:lpstr>
      <vt:lpstr>YOLOv8 算法解析与小目标检测优化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BaiRong</cp:lastModifiedBy>
  <cp:revision>27</cp:revision>
  <dcterms:created xsi:type="dcterms:W3CDTF">2023-08-09T12:44:00Z</dcterms:created>
  <dcterms:modified xsi:type="dcterms:W3CDTF">2026-04-18T15:39:26Z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2052-12.1.0.22529</vt:lpwstr>
  </property>
  <property fmtid="{D5CDD505-2E9C-101B-9397-08002B2CF9AE}" pid="3" name="ICV">
    <vt:lpwstr>0FFB374EF87741258E9EC42A4DEF22FC_13</vt:lpwstr>
  </property>
</Properties>
</file>
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2" r:id="rId17"/>
    <p:sldId id="274" r:id="rId18"/>
    <p:sldId id="276" r:id="rId19"/>
    <p:sldId id="277" r:id="rId20"/>
    <p:sldId id="279" r:id="rId21"/>
    <p:sldId id="28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 sz="4400"/>
              <a:t>YOLOv8 </a:t>
            </a:r>
            <a:r>
              <a:rPr lang="zh-CN" altLang="en-US" sz="4400"/>
              <a:t>算法解析与小目标检测优化</a:t>
            </a:r>
            <a:endParaRPr lang="zh-CN" altLang="en-US" sz="4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S202513003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龚柏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荣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8635" y="154940"/>
            <a:ext cx="8019415" cy="6376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510" y="2146935"/>
            <a:ext cx="5238750" cy="3916680"/>
          </a:xfrm>
          <a:prstGeom prst="rect">
            <a:avLst/>
          </a:prstGeom>
        </p:spPr>
      </p:pic>
      <p:sp>
        <p:nvSpPr>
          <p:cNvPr id="5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1.1 YOLO 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概述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7" name="文本框 6"/>
          <p:cNvSpPr txBox="1"/>
          <p:nvPr/>
        </p:nvSpPr>
        <p:spPr>
          <a:xfrm>
            <a:off x="268605" y="1384935"/>
            <a:ext cx="10468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目标检测是一种计算机视觉任务，其目标是在图像中识别并定位出对应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的物体。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235" y="1897380"/>
            <a:ext cx="5494655" cy="197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主要有两个任务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确定各物体的位置和边界。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将这些物体分类到不同的类别中。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endParaRPr lang="en-US" altLang="zh-CN"/>
          </a:p>
          <a:p>
            <a:pPr indent="457200"/>
            <a:endParaRPr lang="en-US" altLang="zh-CN"/>
          </a:p>
          <a:p>
            <a:pPr indent="457200"/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68605" y="3611245"/>
            <a:ext cx="52120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的方法可分为以下两大类：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单阶段方法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双阶段方法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单阶段方法与双阶段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方法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8" name="文本框 7"/>
          <p:cNvSpPr txBox="1"/>
          <p:nvPr/>
        </p:nvSpPr>
        <p:spPr>
          <a:xfrm>
            <a:off x="621030" y="1371600"/>
            <a:ext cx="108026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单阶段方法优先考虑推理速度，包括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YOLO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RetinaNet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双阶段方法优先考虑检测精度，包括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Faster R-CNN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 R-CNN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" y="2722880"/>
            <a:ext cx="7310755" cy="36137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520" y="2673350"/>
            <a:ext cx="4467225" cy="4176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2890" y="1664970"/>
            <a:ext cx="11397615" cy="3528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YOLO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 Only Look Once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）是一种快速的实时目标检测方法。与传统方法不同，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一次性对整幅图像进行检测，因此速度更快，效率更高。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高速性能，非常适合实时应用。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随着更新，精度不断提高。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缺点：由于网格系统的限制，对于小型物体或距离较近的物体，精度会降低。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YOLO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概述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边界框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6" name="文本框 5"/>
          <p:cNvSpPr txBox="1"/>
          <p:nvPr/>
        </p:nvSpPr>
        <p:spPr>
          <a:xfrm>
            <a:off x="401955" y="1252855"/>
            <a:ext cx="113093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边界框是用于计算机视觉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(CV)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任务的矩形区域标签。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在监督式机器学习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(ML)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中，目标检测模型使用边界框标签来学习图像的内容。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700" y="111125"/>
            <a:ext cx="3118485" cy="23564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" y="2611120"/>
            <a:ext cx="6836410" cy="41040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21805" y="3031490"/>
            <a:ext cx="5182235" cy="889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对于每个边界框，我们测量预测边界框与真实边界框之间的重叠度。重叠度通过交并比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(IoU)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来衡量。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220" y="4176395"/>
            <a:ext cx="5053965" cy="24250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1.2 YOLO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模型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结构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252855"/>
            <a:ext cx="9764395" cy="28905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4143375"/>
            <a:ext cx="12112625" cy="2713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的整体架构是一个卷积神经网络，包含最大池化层和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LeakyReLU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激活函数，之后是一个线性层和一个预测张量。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训练阶段：如何建立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7x7x30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输出与输入图像标签之间的联系，以计算损失？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推理阶段：如何从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7x7x30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输出中获取边界框和类别概率？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1.3 YOLO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数据标注与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预测张量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95" y="1275080"/>
            <a:ext cx="6161405" cy="53968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92900" y="1232535"/>
            <a:ext cx="5499100" cy="5338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将图片切分成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的部分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标签向量包含：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[x,y, w,h, Objectness, Class1, Class2, ...]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Objectness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：如果网格单元包含中心点，则标签为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；否则标签为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x,y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：中心点相对于网格单元的坐标。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w, h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：相对于完整图像的宽度和高度。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45720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类别概率：每个类别的概率。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457200">
              <a:buNone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注意：如果同一个单元格中有多个对象，则仅分配一个类别用于训练。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>
              <a:buNone/>
            </a:pPr>
            <a:endParaRPr lang="zh-CN" altLang="en-US"/>
          </a:p>
          <a:p>
            <a:pPr indent="457200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3550" y="3896995"/>
            <a:ext cx="5223510" cy="27730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5895" y="1058545"/>
            <a:ext cx="11659235" cy="3096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YOLO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将目标检测建模为一个回归问题。图像被分割成一个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x 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的网格，其中每个网格单元预测边界框和类别概率。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每个网格单元预测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个边界框（最简单的情况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 = 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），每个边界框包含：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位置参数：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，分别表示边界框的中心坐标和尺寸（宽度和高度）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置信度得分：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如果该单元格中不存在任何对象，则置信度得分为零。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否则，我们置信度得分等于预测框与真实框之间的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IOU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（交集评分）。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每个网格单元还会预测一组类别概率：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Pr(Classi I Object)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，所有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个边界框共享该概率。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945" y="2961640"/>
            <a:ext cx="2353945" cy="425450"/>
          </a:xfrm>
          <a:prstGeom prst="rect">
            <a:avLst/>
          </a:prstGeom>
        </p:spPr>
      </p:pic>
      <p:sp>
        <p:nvSpPr>
          <p:cNvPr id="7" name="AutoShape 2"/>
          <p:cNvSpPr/>
          <p:nvPr/>
        </p:nvSpPr>
        <p:spPr>
          <a:xfrm>
            <a:off x="175895" y="327025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预测张量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" y="5413375"/>
            <a:ext cx="2076450" cy="419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1.4 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训练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阶段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" y="949325"/>
            <a:ext cx="5393690" cy="58540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66410" y="2091055"/>
            <a:ext cx="6625590" cy="3035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输入图像被分割成一个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SXS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每个对象的中心点决定了哪个网格单元负责预测该对象的边界框。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每个网格单元预测两个边界框，但只选择与真实边界框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IOU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值最高的那个。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如果某个网格单元不包含对象的中心点，则将其视为背景网格，并影响置信度损失，但不影响定位或分类损失。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损失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函数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" name="文本框 3"/>
          <p:cNvSpPr txBox="1"/>
          <p:nvPr/>
        </p:nvSpPr>
        <p:spPr>
          <a:xfrm>
            <a:off x="254635" y="1178560"/>
            <a:ext cx="6301740" cy="544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  <a:p>
            <a:r>
              <a:rPr lang="zh-CN" altLang="en-US"/>
              <a:t>边界框坐标回归：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边界框得分预测：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类别得分预测：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860" y="983615"/>
            <a:ext cx="4897120" cy="1297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860" y="2740025"/>
            <a:ext cx="2794000" cy="11963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065" y="4292600"/>
            <a:ext cx="3242310" cy="7188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750" y="1076325"/>
            <a:ext cx="457390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1.5 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测试</a:t>
            </a: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阶段</a:t>
            </a:r>
            <a:endParaRPr lang="zh-CN" altLang="en-US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" y="1341120"/>
            <a:ext cx="4852035" cy="49136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62220" y="753110"/>
            <a:ext cx="7101840" cy="535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 </a:t>
            </a:r>
            <a:r>
              <a:rPr lang="zh-CN" altLang="en-US"/>
              <a:t>在测试时，我们将条件类别概率相乘，并将各个盒子的置信度预测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值相乘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790" y="1600200"/>
            <a:ext cx="4941570" cy="10502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30165" y="2614930"/>
            <a:ext cx="6828790" cy="3935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这使得我们可以获得每个框的特定类别置信度分数。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这些分数包含了</a:t>
            </a:r>
            <a:r>
              <a:rPr lang="zh-CN" altLang="en-US"/>
              <a:t>和该类别出现在框中的概率以及预测框与实际物体的拟合程度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95" y="1329690"/>
            <a:ext cx="11926570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30" y="1449705"/>
            <a:ext cx="11019155" cy="42138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" y="1317625"/>
            <a:ext cx="10955020" cy="43237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" y="1268095"/>
            <a:ext cx="11433810" cy="42386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202055"/>
            <a:ext cx="11211560" cy="49879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1263650"/>
            <a:ext cx="10358755" cy="55441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1017270"/>
            <a:ext cx="10059670" cy="5840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885" y="4654550"/>
            <a:ext cx="3114675" cy="2132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经过比较：</a:t>
            </a:r>
            <a:endParaRPr lang="zh-CN" altLang="en-US" sz="1600"/>
          </a:p>
          <a:p>
            <a:r>
              <a:rPr lang="zh-CN" altLang="en-US" sz="1600"/>
              <a:t>所有边界框对只剩下两个边界框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具有非零的类别得分值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utoShape 2"/>
          <p:cNvSpPr/>
          <p:nvPr/>
        </p:nvSpPr>
        <p:spPr>
          <a:xfrm>
            <a:off x="175895" y="327025"/>
            <a:ext cx="4187825" cy="525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非极大抑制算法</a:t>
            </a:r>
            <a:r>
              <a:rPr lang="en-US" altLang="zh-CN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(NMS)</a:t>
            </a:r>
            <a:endParaRPr lang="en-US" altLang="zh-CN" sz="3200" b="1" dirty="0">
              <a:solidFill>
                <a:srgbClr val="0052FF"/>
              </a:solidFill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3"/>
          <p:cNvSpPr/>
          <p:nvPr/>
        </p:nvSpPr>
        <p:spPr>
          <a:xfrm>
            <a:off x="175895" y="898525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20" y="1538605"/>
            <a:ext cx="11094720" cy="4148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1539</Words>
  <Application>WPS 演示</Application>
  <PresentationFormat>宽屏</PresentationFormat>
  <Paragraphs>150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Noto Sans SC</vt:lpstr>
      <vt:lpstr>Calibri</vt:lpstr>
      <vt:lpstr>微软雅黑</vt:lpstr>
      <vt:lpstr>Arial Unicode MS</vt:lpstr>
      <vt:lpstr>Noto Sans SC</vt:lpstr>
      <vt:lpstr>JetBrains Mono</vt:lpstr>
      <vt:lpstr>黑体</vt:lpstr>
      <vt:lpstr>Saturday Sans Regular</vt:lpstr>
      <vt:lpstr>WPS</vt:lpstr>
      <vt:lpstr>YOLOv8 算法解析与小目标检测优化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BaiRong</cp:lastModifiedBy>
  <cp:revision>92</cp:revision>
  <dcterms:created xsi:type="dcterms:W3CDTF">2023-08-09T12:44:00Z</dcterms:created>
  <dcterms:modified xsi:type="dcterms:W3CDTF">2026-04-19T04:22:23Z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
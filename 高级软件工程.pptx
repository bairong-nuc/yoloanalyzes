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56" r:id="rId3"/>
    <p:sldId id="257" r:id="rId4"/>
    <p:sldId id="284" r:id="rId5"/>
    <p:sldId id="258" r:id="rId6"/>
    <p:sldId id="259" r:id="rId7"/>
    <p:sldId id="262" r:id="rId8"/>
    <p:sldId id="260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2" r:id="rId18"/>
    <p:sldId id="274" r:id="rId19"/>
    <p:sldId id="276" r:id="rId20"/>
    <p:sldId id="277" r:id="rId21"/>
    <p:sldId id="279" r:id="rId22"/>
    <p:sldId id="280" r:id="rId23"/>
    <p:sldId id="281" r:id="rId24"/>
    <p:sldId id="282" r:id="rId25"/>
    <p:sldId id="286" r:id="rId26"/>
    <p:sldId id="288" r:id="rId27"/>
    <p:sldId id="289" r:id="rId28"/>
    <p:sldId id="290" r:id="rId29"/>
    <p:sldId id="291" r:id="rId30"/>
    <p:sldId id="292" r:id="rId31"/>
    <p:sldId id="296" r:id="rId32"/>
    <p:sldId id="297" r:id="rId33"/>
    <p:sldId id="304" r:id="rId34"/>
    <p:sldId id="298" r:id="rId35"/>
    <p:sldId id="299" r:id="rId36"/>
    <p:sldId id="300" r:id="rId37"/>
    <p:sldId id="301" r:id="rId38"/>
    <p:sldId id="302" r:id="rId39"/>
    <p:sldId id="303" r:id="rId40"/>
    <p:sldId id="305" r:id="rId41"/>
    <p:sldId id="307" r:id="rId42"/>
    <p:sldId id="309" r:id="rId43"/>
    <p:sldId id="310" r:id="rId4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9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9" Type="http://schemas.openxmlformats.org/officeDocument/2006/relationships/tableStyles" Target="tableStyles.xml"/><Relationship Id="rId48" Type="http://schemas.openxmlformats.org/officeDocument/2006/relationships/viewProps" Target="viewProps.xml"/><Relationship Id="rId47" Type="http://schemas.openxmlformats.org/officeDocument/2006/relationships/presProps" Target="presProps.xml"/><Relationship Id="rId46" Type="http://schemas.openxmlformats.org/officeDocument/2006/relationships/handoutMaster" Target="handoutMasters/handoutMaster1.xml"/><Relationship Id="rId45" Type="http://schemas.openxmlformats.org/officeDocument/2006/relationships/notesMaster" Target="notesMasters/notesMaster1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hyperlink" Target="https://www.vectorexplore.com/tech/computer-vision/yolov8/arch.html" TargetMode="External"/><Relationship Id="rId4" Type="http://schemas.openxmlformats.org/officeDocument/2006/relationships/image" Target="../media/image42.png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1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1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58.png"/><Relationship Id="rId7" Type="http://schemas.openxmlformats.org/officeDocument/2006/relationships/image" Target="../media/image57.png"/><Relationship Id="rId6" Type="http://schemas.openxmlformats.org/officeDocument/2006/relationships/hyperlink" Target="https://universe.roboflow.com/bairongs-workspace/vehicles-q0x2v-cw26i" TargetMode="External"/><Relationship Id="rId5" Type="http://schemas.openxmlformats.org/officeDocument/2006/relationships/hyperlink" Target="https://www.vectorexplore.com/tech/computer-vision/yolov8/arch.html" TargetMode="External"/><Relationship Id="rId4" Type="http://schemas.openxmlformats.org/officeDocument/2006/relationships/hyperlink" Target="https://github.com/yinizhilian/ICLR2025-Papers-with-Code" TargetMode="External"/><Relationship Id="rId3" Type="http://schemas.openxmlformats.org/officeDocument/2006/relationships/hyperlink" Target="https://github.com/anonymoussss/YOLOX-SwinTransformer" TargetMode="External"/><Relationship Id="rId2" Type="http://schemas.openxmlformats.org/officeDocument/2006/relationships/hyperlink" Target="https://github.com/google-research/vision_transformer" TargetMode="External"/><Relationship Id="rId1" Type="http://schemas.openxmlformats.org/officeDocument/2006/relationships/hyperlink" Target="https://github.com/BaiRong-NUC/YOLOAnalyz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YOLOv8 </a:t>
            </a:r>
            <a:r>
              <a:rPr lang="zh-CN" altLang="en-US" sz="4400"/>
              <a:t>算法解析与小目标检测优化</a:t>
            </a:r>
            <a:endParaRPr lang="zh-CN" altLang="en-US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S202513003 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龚柏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荣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635" y="154940"/>
            <a:ext cx="8019415" cy="63766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1. YOLOv8</a:t>
            </a:r>
            <a:r>
              <a:rPr lang="zh-CN" altLang="en-US" sz="4400"/>
              <a:t>算法流程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5510" y="2146935"/>
            <a:ext cx="5238750" cy="3916680"/>
          </a:xfrm>
          <a:prstGeom prst="rect">
            <a:avLst/>
          </a:prstGeom>
        </p:spPr>
      </p:pic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1.1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7" name="文本框 6"/>
          <p:cNvSpPr txBox="1"/>
          <p:nvPr/>
        </p:nvSpPr>
        <p:spPr>
          <a:xfrm>
            <a:off x="268605" y="1384935"/>
            <a:ext cx="104686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目标检测是一种计算机视觉任务，其目标是在图像中识别并定位出对应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的物体。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6235" y="1897380"/>
            <a:ext cx="5494655" cy="197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主要有两个任务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确定各物体的位置和边界。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将这些物体分类到不同的类别中。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268605" y="3611245"/>
            <a:ext cx="521208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目前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的方法可分为以下两大类：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单阶段方法与双阶段方法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8" name="文本框 7"/>
          <p:cNvSpPr txBox="1"/>
          <p:nvPr/>
        </p:nvSpPr>
        <p:spPr>
          <a:xfrm>
            <a:off x="621030" y="1371600"/>
            <a:ext cx="108026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单阶段方法优先考虑推理速度，包括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SSD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RetinaNet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双阶段方法优先考虑检测精度，包括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Faster R-CNN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Mask R-CNN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765" y="2722880"/>
            <a:ext cx="7310755" cy="361378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6520" y="2673350"/>
            <a:ext cx="4467225" cy="4176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62890" y="1664970"/>
            <a:ext cx="11397615" cy="3528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You Only Look Once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）是一种快速的实时目标检测方法。与传统方法不同，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一次性对整幅图像进行检测，因此速度更快，效率更高。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优点：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高速性能，非常适合实时应用。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随着更新，精度不断提高。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缺点：由于网格系统的限制，对于小型物体或距离较近的物体，精度会降低。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边界框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6" name="文本框 5"/>
          <p:cNvSpPr txBox="1"/>
          <p:nvPr/>
        </p:nvSpPr>
        <p:spPr>
          <a:xfrm>
            <a:off x="401955" y="1252855"/>
            <a:ext cx="113093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边界框是用于计算机视觉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(CV)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任务的矩形区域标签。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在监督式机器学习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(ML)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中，目标检测模型使用边界框标签来学习图像的内容。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2700" y="111125"/>
            <a:ext cx="3118485" cy="23564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75" y="2611120"/>
            <a:ext cx="6836410" cy="410400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821805" y="3031490"/>
            <a:ext cx="5182235" cy="889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对于每个边界框，我们测量预测边界框与真实边界框之间的重叠度。重叠度通过交并比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(IoU)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来衡量。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220" y="4176395"/>
            <a:ext cx="5053965" cy="24250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1.2 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模型结构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252855"/>
            <a:ext cx="9764395" cy="289052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0" y="4143375"/>
            <a:ext cx="12112625" cy="27139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的整体架构是一个卷积神经网络，包含最大池化层和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LeakyReLU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激活函数，之后是一个线性层和一个预测张量。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训练阶段：如何建立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输出与输入图像标签之间的联系，以计算损失？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推理阶段：如何从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输出中获取边界框和类别概率？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1.3 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数据标注与预测张量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95" y="1275080"/>
            <a:ext cx="6161405" cy="539686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692900" y="1232535"/>
            <a:ext cx="5499100" cy="5338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将图片切分成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的部分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标签向量包含：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[x,y, w,h, Objectness, Class1, Class2, ...]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Objectness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：如果网格单元包含中心点，则标签为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；否则标签为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x,y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：中心点相对于网格单元的坐标。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w, h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：相对于完整图像的宽度和高度。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类别概率：每个类别的概率。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0" indent="457200">
              <a:buNone/>
            </a:pP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注意：如果同一个单元格中有多个对象，则仅分配一个类别用于训练。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zh-CN" altLang="en-US"/>
          </a:p>
          <a:p>
            <a:pPr indent="457200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3550" y="3896995"/>
            <a:ext cx="5223510" cy="27730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1058545"/>
            <a:ext cx="11659235" cy="309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将目标检测建模为一个回归问题。图像被分割成一个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 x 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的网格，其中每个网格单元预测边界框和类别概率。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个边界框（最简单的情况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= 2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），每个边界框包含：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位置参数：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，分别表示边界框的中心坐标和尺寸（宽度和高度）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置信度得分：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如果该单元格中不存在任何对象，则置信度得分为零。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否则，我们置信度得分等于预测框与真实框之间的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（交集评分）。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每个网格单元还会预测一组类别概率：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Pr(Classi I Object)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，所有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个边界框共享该概率。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945" y="2961640"/>
            <a:ext cx="2353945" cy="425450"/>
          </a:xfrm>
          <a:prstGeom prst="rect">
            <a:avLst/>
          </a:prstGeom>
        </p:spPr>
      </p:pic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预测张量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" y="5413375"/>
            <a:ext cx="2076450" cy="4197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1.4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训练阶段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20" y="949325"/>
            <a:ext cx="5393690" cy="58540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566410" y="2091055"/>
            <a:ext cx="6625590" cy="3035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SXS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网格。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每个对象的中心点决定了哪个网格单元负责预测该对象的边界框。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每个网格单元预测两个边界框，但只选择与真实边界框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值最高的那个。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如果某个网格单元不包含对象的中心点，则将其视为背景网格，并影响置信度损失，但不影响定位或分类损失。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损失函数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4635" y="1178560"/>
            <a:ext cx="6301740" cy="544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  <a:p>
            <a:r>
              <a:rPr lang="zh-CN" altLang="en-US"/>
              <a:t>边界框坐标回归：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边界框得分预测：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类别得分预测：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860" y="983615"/>
            <a:ext cx="4897120" cy="12973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860" y="2740025"/>
            <a:ext cx="2794000" cy="119634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065" y="4292600"/>
            <a:ext cx="3242310" cy="71882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750" y="1076325"/>
            <a:ext cx="4573905" cy="4267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1.5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测试阶段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90" y="1341120"/>
            <a:ext cx="4852035" cy="49136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062220" y="753110"/>
            <a:ext cx="7101840" cy="535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</a:t>
            </a:r>
            <a:r>
              <a:rPr lang="zh-CN" altLang="en-US"/>
              <a:t>在测试时，我们将条件类别概率相乘，并将各个盒子的置信度预测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值相乘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790" y="1600200"/>
            <a:ext cx="4941570" cy="105029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5130165" y="2614930"/>
            <a:ext cx="6828790" cy="3935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这使得我们可以获得每个框的特定类别置信度分数。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这些分数包含了</a:t>
            </a:r>
            <a:r>
              <a:rPr lang="zh-CN" altLang="en-US"/>
              <a:t>和该类别出现在框中的概率以及预测框与实际物体的拟合程度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329690"/>
            <a:ext cx="11926570" cy="5124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830" y="1449705"/>
            <a:ext cx="11019155" cy="42138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" y="1317625"/>
            <a:ext cx="10955020" cy="43237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490" y="1268095"/>
            <a:ext cx="11433810" cy="42386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130" y="1202055"/>
            <a:ext cx="11211560" cy="4987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1263650"/>
            <a:ext cx="10358755" cy="55441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895" y="1017270"/>
            <a:ext cx="10059670" cy="58407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5885" y="4654550"/>
            <a:ext cx="3114675" cy="2132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经过比较：</a:t>
            </a:r>
            <a:endParaRPr lang="zh-CN" altLang="en-US" sz="1600"/>
          </a:p>
          <a:p>
            <a:r>
              <a:rPr lang="zh-CN" altLang="en-US" sz="1600"/>
              <a:t>所有边界框对只剩下两个边界框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具有非零的类别得分值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620" y="1538605"/>
            <a:ext cx="11094720" cy="41484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196975"/>
            <a:ext cx="11534140" cy="23209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3373755"/>
            <a:ext cx="9742170" cy="2614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，经过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训练阶段：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</a:t>
            </a:r>
            <a:r>
              <a:rPr lang="en-US" altLang="zh-CN">
                <a:sym typeface="+mn-ea"/>
              </a:rPr>
              <a:t>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真实值中心落在网格单元内，且该网格单元与边界框吻合。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如果某个网格单元不包含目标中心，则将其视为背景，仅对置信度损失产生影响。</a:t>
            </a:r>
            <a:endParaRPr lang="zh-CN" altLang="en-US"/>
          </a:p>
          <a:p>
            <a:pPr lvl="1"/>
            <a:endParaRPr lang="zh-CN" altLang="en-US"/>
          </a:p>
          <a:p>
            <a:pPr lvl="1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445" y="1055370"/>
            <a:ext cx="11841480" cy="23736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3515" y="3339465"/>
            <a:ext cx="1122616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推理阶段：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endParaRPr lang="en-US" altLang="zh-CN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使用非线性矩阵（</a:t>
            </a:r>
            <a:r>
              <a:rPr lang="en-US" altLang="zh-CN"/>
              <a:t>NMS</a:t>
            </a:r>
            <a:r>
              <a:rPr lang="zh-CN" altLang="en-US"/>
              <a:t>）去除冗余边界框，去除依据是交并比（</a:t>
            </a:r>
            <a:r>
              <a:rPr lang="en-US" altLang="zh-CN"/>
              <a:t>IoU</a:t>
            </a:r>
            <a:r>
              <a:rPr lang="zh-CN" altLang="en-US"/>
              <a:t>）阈值。</a:t>
            </a:r>
            <a:endParaRPr lang="zh-CN" altLang="en-US"/>
          </a:p>
          <a:p>
            <a:pPr indent="457200"/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应用非线性矩阵后，根据类别得分最高的边界框选择最终的边界框。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2. YOLOv8</a:t>
            </a:r>
            <a:r>
              <a:rPr lang="zh-CN" altLang="en-US" sz="4400"/>
              <a:t>接入模块流程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2.1 Vision transformer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0190" y="1233170"/>
            <a:ext cx="11302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Transformer</a:t>
            </a:r>
            <a:r>
              <a:rPr lang="zh-CN" altLang="en-US"/>
              <a:t>：</a:t>
            </a:r>
            <a:r>
              <a:rPr lang="en-US" altLang="zh-CN"/>
              <a:t>NLP</a:t>
            </a:r>
            <a:r>
              <a:rPr lang="zh-CN" altLang="en-US"/>
              <a:t>自然语言处理的概念</a:t>
            </a:r>
            <a:r>
              <a:rPr lang="en-US" altLang="zh-CN"/>
              <a:t>,</a:t>
            </a:r>
            <a:r>
              <a:rPr lang="zh-CN" altLang="en-US"/>
              <a:t>现在要将这个概念迁移到图像</a:t>
            </a:r>
            <a:r>
              <a:rPr lang="zh-CN" altLang="en-US"/>
              <a:t>上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5400" y="1664335"/>
            <a:ext cx="6040120" cy="32042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710" y="1664335"/>
            <a:ext cx="5700395" cy="3195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30" y="153035"/>
            <a:ext cx="5233670" cy="289179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105" y="153035"/>
            <a:ext cx="5345430" cy="28619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" y="3338195"/>
            <a:ext cx="5212715" cy="27336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6105" y="3291840"/>
            <a:ext cx="5346065" cy="120586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570980" y="2956560"/>
            <a:ext cx="4144010" cy="456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插入分类头方便</a:t>
            </a:r>
            <a:r>
              <a:rPr lang="zh-CN" altLang="en-US"/>
              <a:t>分类</a:t>
            </a:r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0560" y="4497705"/>
            <a:ext cx="5081905" cy="23437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775" y="1911350"/>
            <a:ext cx="3602990" cy="47028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320" y="1911350"/>
            <a:ext cx="3532505" cy="363029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773670" y="0"/>
            <a:ext cx="4418965" cy="4295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/>
              <a:t>- assets: </a:t>
            </a:r>
            <a:r>
              <a:rPr lang="zh-CN" altLang="en-US" sz="1600"/>
              <a:t>启动时运行测试程序检测功能是否正常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cfg: </a:t>
            </a:r>
            <a:r>
              <a:rPr lang="zh-CN" altLang="en-US" sz="1600"/>
              <a:t>模型结构配置层</a:t>
            </a:r>
            <a:r>
              <a:rPr lang="en-US" altLang="zh-CN" sz="1600"/>
              <a:t>,</a:t>
            </a:r>
            <a:r>
              <a:rPr lang="zh-CN" altLang="en-US" sz="1600"/>
              <a:t>修改模型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data: </a:t>
            </a:r>
            <a:r>
              <a:rPr lang="zh-CN" altLang="en-US" sz="1600"/>
              <a:t>数据处理层</a:t>
            </a:r>
            <a:r>
              <a:rPr lang="en-US" altLang="zh-CN" sz="1600"/>
              <a:t>,</a:t>
            </a:r>
            <a:r>
              <a:rPr lang="zh-CN" altLang="en-US" sz="1600"/>
              <a:t>负责图片、视频、流媒体等输入源读取。</a:t>
            </a:r>
            <a:r>
              <a:rPr lang="zh-CN" altLang="en-US" sz="1600"/>
              <a:t>数据增强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engine: </a:t>
            </a:r>
            <a:r>
              <a:rPr lang="zh-CN" altLang="en-US" sz="1600"/>
              <a:t>使用</a:t>
            </a:r>
            <a:r>
              <a:rPr lang="en-US" altLang="zh-CN" sz="1600"/>
              <a:t>cfg</a:t>
            </a:r>
            <a:r>
              <a:rPr lang="zh-CN" altLang="en-US" sz="1600"/>
              <a:t>配置</a:t>
            </a:r>
            <a:r>
              <a:rPr lang="zh-CN" altLang="en-US" sz="1600"/>
              <a:t>进行训练</a:t>
            </a:r>
            <a:r>
              <a:rPr lang="en-US" altLang="zh-CN" sz="1600"/>
              <a:t>/</a:t>
            </a:r>
            <a:r>
              <a:rPr lang="zh-CN" altLang="en-US" sz="1600"/>
              <a:t>预测</a:t>
            </a:r>
            <a:r>
              <a:rPr lang="en-US" altLang="zh-CN" sz="1600"/>
              <a:t>/</a:t>
            </a:r>
            <a:r>
              <a:rPr lang="zh-CN" altLang="en-US" sz="1600"/>
              <a:t>验证流程</a:t>
            </a:r>
            <a:endParaRPr lang="zh-CN" altLang="en-US" sz="1600"/>
          </a:p>
          <a:p>
            <a:endParaRPr lang="en-US" altLang="zh-CN" sz="1600"/>
          </a:p>
          <a:p>
            <a:r>
              <a:rPr lang="en-US" altLang="zh-CN" sz="1600"/>
              <a:t>- hub: Ultralytics </a:t>
            </a:r>
            <a:r>
              <a:rPr lang="zh-CN" altLang="en-US" sz="1600"/>
              <a:t>用来对接官方云平台</a:t>
            </a:r>
            <a:r>
              <a:rPr lang="en-US" altLang="zh-CN" sz="1600"/>
              <a:t> Ultralytics HUB.</a:t>
            </a:r>
            <a:endParaRPr lang="en-US" altLang="zh-CN" sz="1600"/>
          </a:p>
          <a:p>
            <a:endParaRPr lang="zh-CN" altLang="en-US" sz="1600"/>
          </a:p>
          <a:p>
            <a:r>
              <a:rPr lang="en-US" altLang="zh-CN" sz="1600"/>
              <a:t>- models: </a:t>
            </a:r>
            <a:r>
              <a:rPr lang="zh-CN" altLang="en-US" sz="1600"/>
              <a:t>模型家族封装，</a:t>
            </a:r>
            <a:r>
              <a:rPr lang="en-US" altLang="zh-CN" sz="1600"/>
              <a:t>yolo</a:t>
            </a:r>
            <a:r>
              <a:rPr lang="zh-CN" altLang="en-US" sz="1600"/>
              <a:t>、</a:t>
            </a:r>
            <a:r>
              <a:rPr lang="en-US" altLang="zh-CN" sz="1600"/>
              <a:t>rtdetr</a:t>
            </a:r>
            <a:r>
              <a:rPr lang="zh-CN" altLang="en-US" sz="1600"/>
              <a:t>、</a:t>
            </a:r>
            <a:r>
              <a:rPr lang="en-US" altLang="zh-CN" sz="1600"/>
              <a:t>sam</a:t>
            </a:r>
            <a:r>
              <a:rPr lang="zh-CN" altLang="en-US" sz="1600"/>
              <a:t>、</a:t>
            </a:r>
            <a:r>
              <a:rPr lang="en-US" altLang="zh-CN" sz="1600"/>
              <a:t>fastsam</a:t>
            </a:r>
            <a:r>
              <a:rPr lang="zh-CN" altLang="en-US" sz="1600"/>
              <a:t>、</a:t>
            </a:r>
            <a:r>
              <a:rPr lang="en-US" altLang="zh-CN" sz="1600"/>
              <a:t>nas </a:t>
            </a:r>
            <a:r>
              <a:rPr lang="zh-CN" altLang="en-US" sz="1600"/>
              <a:t>这些子目录，分别对应不同模型体系的高层封装逻辑</a:t>
            </a:r>
            <a:r>
              <a:rPr lang="en-US" altLang="zh-CN" sz="1600"/>
              <a:t>.</a:t>
            </a:r>
            <a:r>
              <a:rPr lang="zh-CN" altLang="en-US" sz="1600"/>
              <a:t>库本身就支持多种模型族，不只一个</a:t>
            </a:r>
            <a:r>
              <a:rPr lang="en-US" altLang="zh-CN" sz="1600"/>
              <a:t> YOLO </a:t>
            </a:r>
            <a:r>
              <a:rPr lang="zh-CN" altLang="en-US" sz="1600"/>
              <a:t>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nn: </a:t>
            </a:r>
            <a:r>
              <a:rPr lang="zh-CN" altLang="en-US" sz="1600"/>
              <a:t>神经网络本体是真正的网络定义层，</a:t>
            </a:r>
            <a:r>
              <a:rPr lang="en-US" altLang="zh-CN" sz="1600"/>
              <a:t>cfg</a:t>
            </a:r>
            <a:r>
              <a:rPr lang="zh-CN" altLang="en-US" sz="1600"/>
              <a:t>流程定义的方法在这里</a:t>
            </a:r>
            <a:r>
              <a:rPr lang="zh-CN" altLang="en-US" sz="1600"/>
              <a:t>实现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utils: </a:t>
            </a:r>
            <a:r>
              <a:rPr lang="zh-CN" altLang="en-US" sz="1600"/>
              <a:t>项目工具层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trackers: </a:t>
            </a:r>
            <a:r>
              <a:rPr lang="zh-CN" altLang="en-US" sz="1600"/>
              <a:t>专门实现目标跟踪功能的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solutions: </a:t>
            </a:r>
            <a:r>
              <a:rPr lang="zh-CN" altLang="en-US" sz="1600"/>
              <a:t>现成应用方案，比如计数、热力图、区域统计、速度估计、停车管理。做业务首先</a:t>
            </a:r>
            <a:r>
              <a:rPr lang="zh-CN" altLang="en-US" sz="1600"/>
              <a:t>看这里。</a:t>
            </a:r>
            <a:endParaRPr lang="zh-CN" altLang="en-US" sz="1600"/>
          </a:p>
        </p:txBody>
      </p:sp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67335" y="1123950"/>
            <a:ext cx="1170241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总结：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想改训练流程：修改</a:t>
            </a:r>
            <a:r>
              <a:rPr lang="en-US" altLang="zh-CN"/>
              <a:t>engine/</a:t>
            </a:r>
            <a:r>
              <a:rPr lang="en-US" altLang="zh-CN"/>
              <a:t>trainer.py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想改推理流程：修改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predictor.py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想改模型结构：修改</a:t>
            </a:r>
            <a:r>
              <a:rPr lang="en-US" altLang="zh-CN"/>
              <a:t> </a:t>
            </a:r>
            <a:r>
              <a:rPr lang="en-US" altLang="zh-CN"/>
              <a:t>nn/ </a:t>
            </a:r>
            <a:r>
              <a:rPr lang="zh-CN" altLang="en-US"/>
              <a:t>和</a:t>
            </a:r>
            <a:r>
              <a:rPr lang="en-US" altLang="zh-CN"/>
              <a:t> cfg/modules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想改数据增强或数据读取：</a:t>
            </a:r>
            <a:r>
              <a:rPr lang="en-US" altLang="zh-CN"/>
              <a:t>data/augment.py </a:t>
            </a:r>
            <a:r>
              <a:rPr lang="zh-CN" altLang="en-US"/>
              <a:t>和</a:t>
            </a:r>
            <a:r>
              <a:rPr lang="en-US" altLang="zh-CN"/>
              <a:t> data/dataset.py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想改模型导出：修改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exporter.py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想要工程实践：看</a:t>
            </a:r>
            <a:r>
              <a:rPr lang="en-US" altLang="zh-CN"/>
              <a:t>solutions/ , examples/ , docs/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6215" y="0"/>
            <a:ext cx="3532505" cy="363029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19405" y="3853815"/>
            <a:ext cx="108299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现在要将</a:t>
            </a:r>
            <a:r>
              <a:rPr lang="en-US" altLang="zh-CN"/>
              <a:t>Vision transformert</a:t>
            </a:r>
            <a:r>
              <a:rPr lang="zh-CN" altLang="en-US"/>
              <a:t>添加到</a:t>
            </a:r>
            <a:r>
              <a:rPr lang="en-US" altLang="zh-CN"/>
              <a:t>YOLOv8</a:t>
            </a:r>
            <a:r>
              <a:rPr lang="zh-CN" altLang="en-US"/>
              <a:t>的模型结构中</a:t>
            </a:r>
            <a:r>
              <a:rPr lang="en-US" altLang="zh-CN"/>
              <a:t>,</a:t>
            </a:r>
            <a:r>
              <a:rPr lang="zh-CN" altLang="en-US"/>
              <a:t>不修改训练，推理流程，数据增强</a:t>
            </a:r>
            <a:r>
              <a:rPr lang="zh-CN" altLang="en-US"/>
              <a:t>流程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所以要看</a:t>
            </a:r>
            <a:r>
              <a:rPr lang="en-US" altLang="zh-CN"/>
              <a:t>cfg/ </a:t>
            </a:r>
            <a:r>
              <a:rPr lang="zh-CN" altLang="en-US"/>
              <a:t>，</a:t>
            </a:r>
            <a:r>
              <a:rPr lang="en-US" altLang="zh-CN"/>
              <a:t>nn/</a:t>
            </a:r>
            <a:endParaRPr lang="en-US" altLang="zh-C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10230" cy="68573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130" y="0"/>
            <a:ext cx="4436110" cy="47948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240" y="0"/>
            <a:ext cx="4684395" cy="32543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375" y="3221990"/>
            <a:ext cx="4746625" cy="363601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837940" y="5915660"/>
            <a:ext cx="2624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5" action="ppaction://hlinkfile"/>
              </a:rPr>
              <a:t>YOLOv8</a:t>
            </a:r>
            <a:r>
              <a:rPr lang="zh-CN" altLang="en-US">
                <a:hlinkClick r:id="rId5" action="ppaction://hlinkfile"/>
              </a:rPr>
              <a:t>模型结构</a:t>
            </a:r>
            <a:endParaRPr lang="zh-CN" altLang="en-US"/>
          </a:p>
        </p:txBody>
      </p:sp>
      <p:sp>
        <p:nvSpPr>
          <p:cNvPr id="10" name="AutoShape 2"/>
          <p:cNvSpPr/>
          <p:nvPr/>
        </p:nvSpPr>
        <p:spPr>
          <a:xfrm>
            <a:off x="3396615" y="508317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2.3 yolov8.yaml</a:t>
            </a:r>
            <a:r>
              <a:rPr lang="zh-CN" altLang="en-US" sz="28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文件结构</a:t>
            </a:r>
            <a:endParaRPr lang="zh-CN" altLang="en-US" sz="28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436110" cy="479488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623435" y="168275"/>
            <a:ext cx="7567930" cy="2978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tasks.py: 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定义基础模型类</a:t>
            </a:r>
            <a:r>
              <a:rPr lang="en-US" altLang="zh-CN"/>
              <a:t> BaseModel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定义检测、分割、分类等任务模型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从</a:t>
            </a:r>
            <a:r>
              <a:rPr lang="en-US" altLang="zh-CN"/>
              <a:t> yaml </a:t>
            </a:r>
            <a:r>
              <a:rPr lang="zh-CN" altLang="en-US"/>
              <a:t>解析网络结构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组装</a:t>
            </a:r>
            <a:r>
              <a:rPr lang="en-US" altLang="zh-CN"/>
              <a:t> backbone</a:t>
            </a:r>
            <a:r>
              <a:rPr lang="zh-CN" altLang="en-US"/>
              <a:t>、</a:t>
            </a:r>
            <a:r>
              <a:rPr lang="en-US" altLang="zh-CN"/>
              <a:t>neck</a:t>
            </a:r>
            <a:r>
              <a:rPr lang="zh-CN" altLang="en-US"/>
              <a:t>、</a:t>
            </a:r>
            <a:r>
              <a:rPr lang="en-US" altLang="zh-CN"/>
              <a:t>head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加载权重和推断任务类型</a:t>
            </a:r>
            <a:endParaRPr lang="zh-CN" altLang="en-US"/>
          </a:p>
          <a:p>
            <a:pPr indent="457200"/>
            <a:endParaRPr lang="en-US" altLang="zh-CN"/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autobackend.py: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自动识别模型格式和推理后端，支持多种深度学习框架和硬件平台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zh-CN" altLang="en-US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text_model.py: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文本编码模型</a:t>
            </a:r>
            <a:r>
              <a:rPr lang="en-US" altLang="zh-CN">
                <a:solidFill>
                  <a:schemeClr val="tx1"/>
                </a:solidFill>
              </a:rPr>
              <a:t>,</a:t>
            </a:r>
            <a:r>
              <a:rPr lang="zh-CN" altLang="en-US">
                <a:solidFill>
                  <a:schemeClr val="tx1"/>
                </a:solidFill>
              </a:rPr>
              <a:t>负责理解文字描述并把文字和图片映射到同一个语义空间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zh-CN" altLang="en-US">
                <a:solidFill>
                  <a:schemeClr val="tx1"/>
                </a:solidFill>
              </a:rPr>
              <a:t>为工程项目服务的</a:t>
            </a:r>
            <a:r>
              <a:rPr lang="en-US" altLang="zh-CN">
                <a:solidFill>
                  <a:schemeClr val="tx1"/>
                </a:solidFill>
              </a:rPr>
              <a:t>)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modules/activation.py: 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激活函数模块。主要是一些自定义激活层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15265" y="4982845"/>
            <a:ext cx="1176972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conv.py: </a:t>
            </a:r>
            <a:r>
              <a:rPr lang="zh-CN" altLang="en-US"/>
              <a:t>基础卷积模块库。标准卷积</a:t>
            </a:r>
            <a:r>
              <a:rPr lang="en-US" altLang="zh-CN"/>
              <a:t> Conv</a:t>
            </a:r>
            <a:r>
              <a:rPr lang="zh-CN" altLang="en-US"/>
              <a:t>，深度可分离卷积</a:t>
            </a:r>
            <a:r>
              <a:rPr lang="en-US" altLang="zh-CN"/>
              <a:t> DWConv</a:t>
            </a:r>
            <a:r>
              <a:rPr lang="zh-CN" altLang="en-US"/>
              <a:t>，</a:t>
            </a:r>
            <a:r>
              <a:rPr lang="en-US" altLang="zh-CN"/>
              <a:t>GhostConv</a:t>
            </a:r>
            <a:r>
              <a:rPr lang="zh-CN" altLang="en-US"/>
              <a:t>，</a:t>
            </a:r>
            <a:r>
              <a:rPr lang="en-US" altLang="zh-CN"/>
              <a:t>RepConv</a:t>
            </a:r>
            <a:r>
              <a:rPr lang="zh-CN" altLang="en-US"/>
              <a:t>等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modules/block.py: </a:t>
            </a:r>
            <a:r>
              <a:rPr lang="zh-CN" altLang="en-US"/>
              <a:t>组合型网络块。它基于</a:t>
            </a:r>
            <a:r>
              <a:rPr lang="en-US" altLang="zh-CN"/>
              <a:t> conv.py </a:t>
            </a:r>
            <a:r>
              <a:rPr lang="zh-CN" altLang="en-US"/>
              <a:t>里的基础层，再拼成更高级的结构块</a:t>
            </a:r>
            <a:endParaRPr lang="zh-CN" altLang="en-US"/>
          </a:p>
          <a:p>
            <a:pPr indent="457200"/>
            <a:r>
              <a:rPr lang="en-US" altLang="zh-CN"/>
              <a:t>(Bottleneck,C2f,C3,SPPF,Proto,SwinTransformer,VisionTransformer)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head.py: </a:t>
            </a:r>
            <a:r>
              <a:rPr lang="zh-CN" altLang="en-US"/>
              <a:t>输出头模块。也就是网络最后负责产出结果的部分，</a:t>
            </a:r>
            <a:r>
              <a:rPr lang="en-US" altLang="zh-CN"/>
              <a:t>Detect </a:t>
            </a:r>
            <a:r>
              <a:rPr lang="zh-CN" altLang="en-US"/>
              <a:t>检测头，</a:t>
            </a:r>
            <a:r>
              <a:rPr lang="en-US" altLang="zh-CN"/>
              <a:t>Classify </a:t>
            </a:r>
            <a:r>
              <a:rPr lang="zh-CN" altLang="en-US"/>
              <a:t>分类头</a:t>
            </a:r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6395" y="297180"/>
            <a:ext cx="10987405" cy="5880100"/>
          </a:xfrm>
        </p:spPr>
        <p:txBody>
          <a:bodyPr/>
          <a:p>
            <a:pPr marL="0" indent="0">
              <a:buNone/>
            </a:pPr>
            <a:r>
              <a:rPr lang="zh-CN" altLang="en-US"/>
              <a:t>模型读取</a:t>
            </a:r>
            <a:r>
              <a:rPr lang="en-US" altLang="zh-CN"/>
              <a:t> yaml </a:t>
            </a:r>
            <a:r>
              <a:rPr lang="zh-CN" altLang="en-US"/>
              <a:t>搭起来</a:t>
            </a:r>
            <a:r>
              <a:rPr lang="zh-CN" altLang="en-US"/>
              <a:t>模型：</a:t>
            </a:r>
            <a:r>
              <a:rPr lang="en-US" altLang="zh-CN"/>
              <a:t>tasks.py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模型想加一个新的基础层：</a:t>
            </a:r>
            <a:r>
              <a:rPr lang="en-US" altLang="zh-CN"/>
              <a:t>conv.py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>
                <a:sym typeface="+mn-ea"/>
              </a:rPr>
              <a:t>模型想加一个新的结构块</a:t>
            </a:r>
            <a:r>
              <a:rPr lang="zh-CN" altLang="en-US"/>
              <a:t>：</a:t>
            </a:r>
            <a:r>
              <a:rPr lang="en-US" altLang="zh-CN"/>
              <a:t>block.py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修改检测头或分割头：</a:t>
            </a:r>
            <a:r>
              <a:rPr lang="en-US" altLang="zh-CN"/>
              <a:t>head.py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修改适配导出后的推理格式：</a:t>
            </a:r>
            <a:r>
              <a:rPr lang="en-US" altLang="zh-CN"/>
              <a:t>autobackend.py</a:t>
            </a:r>
            <a:endParaRPr lang="en-US" altLang="zh-C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8100" y="0"/>
            <a:ext cx="8256270" cy="39046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170" y="0"/>
            <a:ext cx="3945890" cy="27419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100" y="4287520"/>
            <a:ext cx="5700395" cy="257048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746750" y="3996055"/>
            <a:ext cx="6041390" cy="620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1. </a:t>
            </a:r>
            <a:r>
              <a:rPr lang="zh-CN" altLang="en-US"/>
              <a:t>从</a:t>
            </a:r>
            <a:r>
              <a:rPr lang="en-US" altLang="zh-CN"/>
              <a:t>p1</a:t>
            </a:r>
            <a:r>
              <a:rPr lang="zh-CN" altLang="en-US"/>
              <a:t>到</a:t>
            </a:r>
            <a:r>
              <a:rPr lang="en-US" altLang="zh-CN"/>
              <a:t>p5</a:t>
            </a:r>
            <a:r>
              <a:rPr lang="zh-CN" altLang="en-US"/>
              <a:t>逐步经过下采样换取更大的视野，信息从细到粗。到</a:t>
            </a:r>
            <a:r>
              <a:rPr lang="en-US" altLang="zh-CN"/>
              <a:t>p5</a:t>
            </a:r>
            <a:r>
              <a:rPr lang="zh-CN" altLang="en-US"/>
              <a:t>适合用</a:t>
            </a:r>
            <a:r>
              <a:rPr lang="en-US" altLang="zh-CN"/>
              <a:t> ViT </a:t>
            </a:r>
            <a:r>
              <a:rPr lang="zh-CN" altLang="en-US"/>
              <a:t>去补</a:t>
            </a:r>
            <a:r>
              <a:rPr lang="en-US" altLang="zh-CN"/>
              <a:t>“</a:t>
            </a:r>
            <a:r>
              <a:rPr lang="zh-CN" altLang="en-US"/>
              <a:t>长距离依赖</a:t>
            </a:r>
            <a:r>
              <a:rPr lang="en-US" altLang="zh-CN"/>
              <a:t>”</a:t>
            </a:r>
            <a:r>
              <a:rPr lang="zh-CN" altLang="en-US"/>
              <a:t>和</a:t>
            </a:r>
            <a:r>
              <a:rPr lang="en-US" altLang="zh-CN"/>
              <a:t>“</a:t>
            </a:r>
            <a:r>
              <a:rPr lang="zh-CN" altLang="en-US"/>
              <a:t>全局上下文</a:t>
            </a:r>
            <a:r>
              <a:rPr lang="en-US" altLang="zh-CN"/>
              <a:t>”.</a:t>
            </a:r>
            <a:r>
              <a:rPr lang="zh-CN" altLang="en-US"/>
              <a:t>插入的太早细节不够。卷积负责</a:t>
            </a:r>
            <a:r>
              <a:rPr lang="en-US" altLang="zh-CN"/>
              <a:t>“</a:t>
            </a:r>
            <a:r>
              <a:rPr lang="zh-CN" altLang="en-US"/>
              <a:t>看近处、认细节</a:t>
            </a:r>
            <a:r>
              <a:rPr lang="en-US" altLang="zh-CN"/>
              <a:t>”</a:t>
            </a:r>
            <a:r>
              <a:rPr lang="zh-CN" altLang="en-US"/>
              <a:t>；</a:t>
            </a:r>
            <a:r>
              <a:rPr lang="en-US" altLang="zh-CN"/>
              <a:t>ViT </a:t>
            </a:r>
            <a:r>
              <a:rPr lang="zh-CN" altLang="en-US"/>
              <a:t>负责</a:t>
            </a:r>
            <a:r>
              <a:rPr lang="en-US" altLang="zh-CN"/>
              <a:t>“</a:t>
            </a:r>
            <a:r>
              <a:rPr lang="zh-CN" altLang="en-US"/>
              <a:t>看全局、补上下文</a:t>
            </a:r>
            <a:r>
              <a:rPr lang="en-US" altLang="zh-CN"/>
              <a:t>”</a:t>
            </a:r>
            <a:endParaRPr lang="en-US" altLang="zh-CN"/>
          </a:p>
          <a:p>
            <a:endParaRPr lang="zh-CN" altLang="en-US"/>
          </a:p>
          <a:p>
            <a:r>
              <a:rPr lang="en-US" altLang="zh-CN"/>
              <a:t>2. SPPF </a:t>
            </a:r>
            <a:r>
              <a:rPr lang="zh-CN" altLang="en-US"/>
              <a:t>把高层特征做一遍快速整理，把不同感受野的信息整理</a:t>
            </a:r>
            <a:r>
              <a:rPr lang="zh-CN" altLang="en-US"/>
              <a:t>起来，</a:t>
            </a:r>
            <a:r>
              <a:rPr lang="en-US" altLang="zh-CN"/>
              <a:t>ViT </a:t>
            </a:r>
            <a:r>
              <a:rPr lang="zh-CN" altLang="en-US"/>
              <a:t>接在它后面时，拿到的已经不是</a:t>
            </a:r>
            <a:r>
              <a:rPr lang="en-US" altLang="zh-CN"/>
              <a:t>“</a:t>
            </a:r>
            <a:r>
              <a:rPr lang="zh-CN" altLang="en-US"/>
              <a:t>零散信息</a:t>
            </a:r>
            <a:r>
              <a:rPr lang="en-US" altLang="zh-CN"/>
              <a:t>”</a:t>
            </a:r>
            <a:r>
              <a:rPr lang="zh-CN" altLang="en-US"/>
              <a:t>，而是</a:t>
            </a:r>
            <a:r>
              <a:rPr lang="en-US" altLang="zh-CN"/>
              <a:t>“</a:t>
            </a:r>
            <a:r>
              <a:rPr lang="zh-CN" altLang="en-US"/>
              <a:t>整理过的高层信息</a:t>
            </a:r>
            <a:r>
              <a:rPr lang="en-US" altLang="zh-CN"/>
              <a:t>”</a:t>
            </a:r>
            <a:r>
              <a:rPr lang="zh-CN" altLang="en-US"/>
              <a:t>。它再去做全局建模</a:t>
            </a:r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5560" y="15240"/>
            <a:ext cx="9655175" cy="68427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53973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5"/>
            <a:ext cx="10525760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983980" cy="50082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595" y="0"/>
            <a:ext cx="3241040" cy="434530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666355" cy="31496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17850"/>
            <a:ext cx="5482590" cy="374332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1654810"/>
            <a:ext cx="6033135" cy="49422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510" y="99060"/>
            <a:ext cx="5952490" cy="67589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2.4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迁移权重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,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冻结参数与数据增强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41935" y="1245870"/>
            <a:ext cx="11647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迁移权重：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855" y="1037590"/>
            <a:ext cx="8727440" cy="55118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2.4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迁移权重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,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冻结参数与数据增强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41935" y="1245870"/>
            <a:ext cx="11647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冻结</a:t>
            </a:r>
            <a:r>
              <a:rPr lang="zh-CN" altLang="en-US"/>
              <a:t>参数：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700" y="1245870"/>
            <a:ext cx="5097145" cy="54959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80" y="2008505"/>
            <a:ext cx="5519420" cy="473392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2.4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迁移权重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,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冻结参数与数据增强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41935" y="1245870"/>
            <a:ext cx="11647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数据增强：将一张输入图片经过旋转</a:t>
            </a:r>
            <a:r>
              <a:rPr lang="en-US" altLang="zh-CN"/>
              <a:t>/</a:t>
            </a:r>
            <a:r>
              <a:rPr lang="zh-CN" altLang="en-US"/>
              <a:t>曝光等方式再次输入</a:t>
            </a:r>
            <a:r>
              <a:rPr lang="en-US" altLang="zh-CN"/>
              <a:t>,</a:t>
            </a:r>
            <a:r>
              <a:rPr lang="zh-CN" altLang="en-US"/>
              <a:t>让模型学习不同角度，光线的</a:t>
            </a:r>
            <a:r>
              <a:rPr lang="zh-CN" altLang="en-US"/>
              <a:t>情况</a:t>
            </a:r>
            <a:endParaRPr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2.5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资源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分享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2" name="文本框 1"/>
          <p:cNvSpPr txBox="1"/>
          <p:nvPr/>
        </p:nvSpPr>
        <p:spPr>
          <a:xfrm>
            <a:off x="175895" y="1951355"/>
            <a:ext cx="113944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hlinkClick r:id="rId1" tooltip="" action="ppaction://hlinkfile"/>
              </a:rPr>
              <a:t>https://github.com/BaiRong-NUC/YOLOAnalyzes</a:t>
            </a:r>
            <a:endParaRPr lang="en-US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257550" y="4140200"/>
            <a:ext cx="56775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2" action="ppaction://hlinkfile"/>
              </a:rPr>
              <a:t>https://github.com/google-research/vision_transformer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175260" y="4140200"/>
            <a:ext cx="4079875" cy="481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Vision Transformer (ViT) </a:t>
            </a:r>
            <a:r>
              <a:rPr lang="zh-CN" altLang="en-US"/>
              <a:t>源码：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642870" y="4831080"/>
            <a:ext cx="8592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3" action="ppaction://hlinkfile"/>
              </a:rPr>
              <a:t>https://github.com/anonymoussss/YOLOX-SwinTransformer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175895" y="4831080"/>
            <a:ext cx="4079875" cy="481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Swin Transformer </a:t>
            </a:r>
            <a:r>
              <a:rPr lang="zh-CN" altLang="en-US"/>
              <a:t>源码：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031615" y="5521960"/>
            <a:ext cx="8592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4" action="ppaction://hlinkfile"/>
              </a:rPr>
              <a:t>https://github.com/yinizhilian/ICLR2025-Papers-with-Code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175895" y="5521960"/>
            <a:ext cx="4079875" cy="481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ICLR 2021-2025 </a:t>
            </a:r>
            <a:r>
              <a:rPr lang="zh-CN" altLang="en-US"/>
              <a:t>论文和开源项目合集</a:t>
            </a:r>
            <a:r>
              <a:rPr lang="zh-CN" altLang="en-US"/>
              <a:t>：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91770" y="15830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实验数据集</a:t>
            </a:r>
            <a:r>
              <a:rPr lang="en-US" altLang="zh-CN"/>
              <a:t>+</a:t>
            </a:r>
            <a:r>
              <a:rPr lang="zh-CN" altLang="en-US"/>
              <a:t>代码</a:t>
            </a:r>
            <a:r>
              <a:rPr lang="en-US" altLang="zh-CN"/>
              <a:t>+</a:t>
            </a:r>
            <a:r>
              <a:rPr lang="zh-CN" altLang="en-US"/>
              <a:t>论文</a:t>
            </a:r>
            <a:r>
              <a:rPr lang="en-US" altLang="zh-CN"/>
              <a:t>:</a:t>
            </a:r>
            <a:endParaRPr lang="en-US" altLang="zh-CN"/>
          </a:p>
        </p:txBody>
      </p:sp>
      <p:sp>
        <p:nvSpPr>
          <p:cNvPr id="15" name="文本框 14"/>
          <p:cNvSpPr txBox="1"/>
          <p:nvPr/>
        </p:nvSpPr>
        <p:spPr>
          <a:xfrm>
            <a:off x="191770" y="3299460"/>
            <a:ext cx="8117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hlinkClick r:id="rId5" action="ppaction://hlinkfile"/>
              </a:rPr>
              <a:t>https://www.vectorexplore.com/tech/computer-vision/yolov8/arch.html</a:t>
            </a:r>
            <a:endParaRPr lang="en-US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243205" y="28721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YOLOv8 </a:t>
            </a:r>
            <a:r>
              <a:rPr lang="zh-CN" altLang="en-US"/>
              <a:t>架构详解：图示</a:t>
            </a:r>
            <a:r>
              <a:rPr lang="en-US" altLang="zh-CN"/>
              <a:t> + </a:t>
            </a:r>
            <a:r>
              <a:rPr lang="zh-CN" altLang="en-US"/>
              <a:t>代码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767965" y="6278880"/>
            <a:ext cx="7377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hlinkClick r:id="rId6" action="ppaction://hlinkfile"/>
              </a:rPr>
              <a:t>https://universe.roboflow.com/bairongs-workspace/vehicles-q0x2v-cw26i</a:t>
            </a:r>
            <a:endParaRPr lang="en-US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3205" y="62788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roboflow</a:t>
            </a:r>
            <a:r>
              <a:rPr lang="zh-CN" altLang="en-US"/>
              <a:t>图形数据集</a:t>
            </a:r>
            <a:r>
              <a:rPr lang="en-US" altLang="zh-CN"/>
              <a:t>: 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5770" y="428625"/>
            <a:ext cx="4937125" cy="140906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3370" y="428625"/>
            <a:ext cx="3008630" cy="27984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3981</Words>
  <Application>WPS 演示</Application>
  <PresentationFormat>宽屏</PresentationFormat>
  <Paragraphs>304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0" baseType="lpstr">
      <vt:lpstr>Arial</vt:lpstr>
      <vt:lpstr>宋体</vt:lpstr>
      <vt:lpstr>Wingdings</vt:lpstr>
      <vt:lpstr>黑体</vt:lpstr>
      <vt:lpstr>微软雅黑</vt:lpstr>
      <vt:lpstr>Calibri</vt:lpstr>
      <vt:lpstr>Arial Unicode MS</vt:lpstr>
      <vt:lpstr>WPS</vt:lpstr>
      <vt:lpstr>YOLOv8 算法解析与小目标检测优化</vt:lpstr>
      <vt:lpstr>PowerPoint 演示文稿</vt:lpstr>
      <vt:lpstr>1. YOLOv8算法流程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2. YOLOv8接入模块流程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206</cp:revision>
  <dcterms:created xsi:type="dcterms:W3CDTF">2023-08-09T12:44:00Z</dcterms:created>
  <dcterms:modified xsi:type="dcterms:W3CDTF">2026-04-19T12:56:11Z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